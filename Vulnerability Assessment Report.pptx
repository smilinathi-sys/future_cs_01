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5" r:id="rId7"/>
    <p:sldId id="261" r:id="rId8"/>
    <p:sldId id="262" r:id="rId9"/>
    <p:sldId id="263" r:id="rId10"/>
    <p:sldId id="264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0959" autoAdjust="0"/>
    <p:restoredTop sz="94660"/>
  </p:normalViewPr>
  <p:slideViewPr>
    <p:cSldViewPr>
      <p:cViewPr>
        <p:scale>
          <a:sx n="50" d="100"/>
          <a:sy n="50" d="100"/>
        </p:scale>
        <p:origin x="-1916" y="-3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57200" y="3699804"/>
            <a:ext cx="8305800" cy="1143000"/>
          </a:xfrm>
        </p:spPr>
        <p:txBody>
          <a:bodyPr>
            <a:noAutofit/>
          </a:bodyPr>
          <a:lstStyle>
            <a:lvl1pPr marL="0" indent="0" algn="ctr">
              <a:buNone/>
              <a:defRPr sz="2200" spc="10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Title 27"/>
          <p:cNvSpPr>
            <a:spLocks noGrp="1"/>
          </p:cNvSpPr>
          <p:nvPr>
            <p:ph type="ctrTitle"/>
          </p:nvPr>
        </p:nvSpPr>
        <p:spPr>
          <a:xfrm>
            <a:off x="457200" y="1433732"/>
            <a:ext cx="8305800" cy="1981200"/>
          </a:xfrm>
          <a:ln w="6350" cap="rnd">
            <a:noFill/>
          </a:ln>
        </p:spPr>
        <p:txBody>
          <a:bodyPr anchor="b" anchorCtr="0">
            <a:noAutofit/>
          </a:bodyPr>
          <a:lstStyle>
            <a:lvl1pPr algn="ctr">
              <a:defRPr lang="en-US" sz="4800" b="0" dirty="0">
                <a:ln w="3200">
                  <a:solidFill>
                    <a:schemeClr val="bg2">
                      <a:shade val="7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50800" dist="25400" dir="13500000">
                    <a:srgbClr val="000000">
                      <a:alpha val="70000"/>
                    </a:srgb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463626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708574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4540348" y="3526302"/>
            <a:ext cx="45720" cy="45720"/>
          </a:xfrm>
          <a:prstGeom prst="ellipse">
            <a:avLst/>
          </a:prstGeom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2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A1FF0-4C9A-427C-A874-1ED9F5B29D85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398D233-E63C-4DB5-8461-17BF1B7FF5BA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7CA1FF0-4C9A-427C-A874-1ED9F5B29D85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ctr">
              <a:defRPr/>
            </a:lvl1pPr>
          </a:lstStyle>
          <a:p>
            <a:fld id="{A398D233-E63C-4DB5-8461-17BF1B7FF5BA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A1FF0-4C9A-427C-A874-1ED9F5B29D85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8D233-E63C-4DB5-8461-17BF1B7FF5BA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505200"/>
            <a:ext cx="7924800" cy="137160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lang="en-US" sz="4800" b="0" dirty="0">
                <a:ln w="3200">
                  <a:solidFill>
                    <a:schemeClr val="bg2">
                      <a:shade val="2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38100" dist="25400" dir="13500000">
                    <a:prstClr val="black">
                      <a:alpha val="70000"/>
                    </a:prst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958864"/>
            <a:ext cx="7924800" cy="984736"/>
          </a:xfrm>
        </p:spPr>
        <p:txBody>
          <a:bodyPr anchor="t"/>
          <a:lstStyle>
            <a:lvl1pPr marL="0" indent="0">
              <a:buNone/>
              <a:defRPr sz="2000" spc="10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685800" y="4916992"/>
            <a:ext cx="7924800" cy="4301"/>
          </a:xfrm>
          <a:prstGeom prst="line">
            <a:avLst/>
          </a:prstGeom>
          <a:noFill/>
          <a:ln w="9525" cap="flat" cmpd="sng" algn="ctr">
            <a:solidFill>
              <a:srgbClr val="E9E9E8"/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A1FF0-4C9A-427C-A874-1ED9F5B29D85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8D233-E63C-4DB5-8461-17BF1B7FF5BA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8D233-E63C-4DB5-8461-17BF1B7FF5B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A1FF0-4C9A-427C-A874-1ED9F5B29D85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  <a:sp3d prstMaterial="flat"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2" name="Content Placeholder 31"/>
          <p:cNvSpPr>
            <a:spLocks noGrp="1"/>
          </p:cNvSpPr>
          <p:nvPr>
            <p:ph sz="half" idx="2"/>
          </p:nvPr>
        </p:nvSpPr>
        <p:spPr>
          <a:xfrm>
            <a:off x="457200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4" name="Content Placeholder 33"/>
          <p:cNvSpPr>
            <a:spLocks noGrp="1"/>
          </p:cNvSpPr>
          <p:nvPr>
            <p:ph sz="quarter" idx="4"/>
          </p:nvPr>
        </p:nvSpPr>
        <p:spPr>
          <a:xfrm>
            <a:off x="4649788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idx="3"/>
          </p:nvPr>
        </p:nvSpPr>
        <p:spPr>
          <a:xfrm>
            <a:off x="4648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 baseline="0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562945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4754880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A1FF0-4C9A-427C-A874-1ED9F5B29D85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8D233-E63C-4DB5-8461-17BF1B7FF5BA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A1FF0-4C9A-427C-A874-1ED9F5B29D85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8D233-E63C-4DB5-8461-17BF1B7FF5B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ntent Placeholder 28"/>
          <p:cNvSpPr>
            <a:spLocks noGrp="1"/>
          </p:cNvSpPr>
          <p:nvPr>
            <p:ph sz="quarter" idx="1"/>
          </p:nvPr>
        </p:nvSpPr>
        <p:spPr>
          <a:xfrm>
            <a:off x="457200" y="457200"/>
            <a:ext cx="6248400" cy="5715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781800" y="1600200"/>
            <a:ext cx="1984248" cy="3733800"/>
          </a:xfrm>
        </p:spPr>
        <p:txBody>
          <a:bodyPr tIns="45720" bIns="45720"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1" name="Title 30"/>
          <p:cNvSpPr>
            <a:spLocks noGrp="1"/>
          </p:cNvSpPr>
          <p:nvPr>
            <p:ph type="title"/>
          </p:nvPr>
        </p:nvSpPr>
        <p:spPr>
          <a:xfrm>
            <a:off x="6781800" y="457200"/>
            <a:ext cx="19812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7CA1FF0-4C9A-427C-A874-1ED9F5B29D85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A398D233-E63C-4DB5-8461-17BF1B7FF5BA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29400" y="457200"/>
            <a:ext cx="20574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457200"/>
            <a:ext cx="6019800" cy="5562600"/>
          </a:xfrm>
          <a:solidFill>
            <a:schemeClr val="tx2">
              <a:tint val="40000"/>
            </a:schemeClr>
          </a:solidFill>
          <a:effectLst>
            <a:outerShdw blurRad="88900" sx="103000" sy="103000" algn="ctr" rotWithShape="0">
              <a:prstClr val="black">
                <a:alpha val="32000"/>
              </a:prstClr>
            </a:outerShdw>
            <a:softEdge rad="127000"/>
          </a:effectLst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kumimoji="0" lang="en-US" smtClean="0"/>
              <a:t>Click icon to add picture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29400" y="1600200"/>
            <a:ext cx="2057400" cy="4419600"/>
          </a:xfrm>
        </p:spPr>
        <p:txBody>
          <a:bodyPr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FontTx/>
              <a:buNone/>
              <a:defRPr sz="1600" b="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A1FF0-4C9A-427C-A874-1ED9F5B29D85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398D233-E63C-4DB5-8461-17BF1B7FF5BA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A1FF0-4C9A-427C-A874-1ED9F5B29D85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8D233-E63C-4DB5-8461-17BF1B7FF5B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A1FF0-4C9A-427C-A874-1ED9F5B29D85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8D233-E63C-4DB5-8461-17BF1B7FF5B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8229600" cy="46783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5791200" y="6203667"/>
            <a:ext cx="2590800" cy="384048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E7CA1FF0-4C9A-427C-A874-1ED9F5B29D85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2133600" y="6203667"/>
            <a:ext cx="358140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410575" y="6181531"/>
            <a:ext cx="609600" cy="457200"/>
          </a:xfrm>
          <a:prstGeom prst="rect">
            <a:avLst/>
          </a:prstGeom>
          <a:noFill/>
        </p:spPr>
        <p:txBody>
          <a:bodyPr vert="horz" lIns="0" tIns="0" rIns="0" bIns="0" anchor="ctr" anchorCtr="0">
            <a:noAutofit/>
          </a:bodyPr>
          <a:lstStyle>
            <a:lvl1pPr algn="ctr" eaLnBrk="1" latinLnBrk="0" hangingPunct="1">
              <a:defRPr kumimoji="0" sz="1600" baseline="0">
                <a:solidFill>
                  <a:schemeClr val="tx2"/>
                </a:solidFill>
              </a:defRPr>
            </a:lvl1pPr>
          </a:lstStyle>
          <a:p>
            <a:fld id="{A398D233-E63C-4DB5-8461-17BF1B7FF5BA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19200"/>
          </a:xfrm>
          <a:prstGeom prst="rect">
            <a:avLst/>
          </a:prstGeom>
          <a:ln w="6350" cap="rnd">
            <a:noFill/>
          </a:ln>
        </p:spPr>
        <p:txBody>
          <a:bodyPr vert="horz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lang="en-US" sz="4200" b="0" kern="1200" spc="-100" baseline="0" dirty="0">
          <a:ln w="3200">
            <a:solidFill>
              <a:schemeClr val="bg2">
                <a:shade val="75000"/>
                <a:alpha val="25000"/>
              </a:schemeClr>
            </a:solidFill>
            <a:prstDash val="solid"/>
            <a:round/>
          </a:ln>
          <a:solidFill>
            <a:srgbClr val="F9F9F9"/>
          </a:solidFill>
          <a:effectLst>
            <a:innerShdw blurRad="50800" dist="25400" dir="13500000">
              <a:prstClr val="black">
                <a:alpha val="70000"/>
              </a:prstClr>
            </a:innerShdw>
          </a:effectLst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2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/>
        <a:buChar char="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005840" indent="-228600" algn="l" rtl="0" eaLnBrk="1" latinLnBrk="0" hangingPunct="1">
        <a:spcBef>
          <a:spcPts val="300"/>
        </a:spcBef>
        <a:buClr>
          <a:schemeClr val="accent2">
            <a:shade val="50000"/>
          </a:schemeClr>
        </a:buClr>
        <a:buSzPct val="85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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N" dirty="0" smtClean="0"/>
              <a:t>    </a:t>
            </a:r>
          </a:p>
          <a:p>
            <a:r>
              <a:rPr lang="en-IN" dirty="0" smtClean="0"/>
              <a:t>        </a:t>
            </a:r>
            <a:r>
              <a:rPr lang="en-IN" sz="2600" b="1" dirty="0" smtClean="0"/>
              <a:t>Aim: </a:t>
            </a:r>
            <a:r>
              <a:rPr lang="en-US" sz="2300" dirty="0" smtClean="0"/>
              <a:t>Vulnerability </a:t>
            </a:r>
            <a:r>
              <a:rPr lang="en-US" sz="2300" dirty="0" smtClean="0"/>
              <a:t>Assessment Report for a Live </a:t>
            </a:r>
            <a:r>
              <a:rPr lang="en-US" sz="2300" dirty="0" smtClean="0"/>
              <a:t>Website</a:t>
            </a:r>
            <a:endParaRPr lang="en-IN" dirty="0" smtClean="0"/>
          </a:p>
          <a:p>
            <a:r>
              <a:rPr lang="en-IN" sz="2300" dirty="0" smtClean="0"/>
              <a:t>  </a:t>
            </a:r>
            <a:r>
              <a:rPr lang="en-IN" sz="2600" b="1" dirty="0" smtClean="0"/>
              <a:t>Target website </a:t>
            </a:r>
            <a:r>
              <a:rPr lang="en-IN" dirty="0" smtClean="0"/>
              <a:t>: </a:t>
            </a:r>
            <a:r>
              <a:rPr lang="en-IN" sz="2300" dirty="0" smtClean="0"/>
              <a:t>demo.testfire.net</a:t>
            </a:r>
            <a:endParaRPr lang="en-IN" dirty="0" smtClean="0"/>
          </a:p>
          <a:p>
            <a:r>
              <a:rPr lang="en-IN" sz="2300" b="1" dirty="0" smtClean="0"/>
              <a:t>Reported by: </a:t>
            </a:r>
            <a:r>
              <a:rPr lang="en-IN" sz="2300" b="1" dirty="0" err="1" smtClean="0"/>
              <a:t>N.Smili</a:t>
            </a:r>
            <a:endParaRPr lang="en-US" sz="2300" b="1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7158" y="1142984"/>
            <a:ext cx="8305800" cy="1981200"/>
          </a:xfrm>
        </p:spPr>
        <p:txBody>
          <a:bodyPr/>
          <a:lstStyle/>
          <a:p>
            <a:r>
              <a:rPr lang="en-IN" b="1" dirty="0" smtClean="0">
                <a:latin typeface="Montserrat"/>
              </a:rPr>
              <a:t>    Vulnerability Assessment Report</a:t>
            </a:r>
            <a:endParaRPr lang="en-US" b="1" dirty="0">
              <a:latin typeface="Montserra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28596" y="1357298"/>
            <a:ext cx="8229600" cy="4572000"/>
          </a:xfrm>
        </p:spPr>
        <p:txBody>
          <a:bodyPr/>
          <a:lstStyle/>
          <a:p>
            <a:pPr>
              <a:buClrTx/>
              <a:buFont typeface="Wingdings" pitchFamily="2" charset="2"/>
              <a:buChar char="Ø"/>
            </a:pPr>
            <a:r>
              <a:rPr lang="en-US" dirty="0" smtClean="0"/>
              <a:t>Identify security vulnerabilities in web </a:t>
            </a:r>
            <a:r>
              <a:rPr lang="en-US" dirty="0" smtClean="0"/>
              <a:t>apps</a:t>
            </a:r>
          </a:p>
          <a:p>
            <a:pPr>
              <a:buClrTx/>
              <a:buFont typeface="Wingdings" pitchFamily="2" charset="2"/>
              <a:buChar char="Ø"/>
            </a:pPr>
            <a:r>
              <a:rPr lang="en-US" dirty="0" smtClean="0"/>
              <a:t> </a:t>
            </a:r>
            <a:r>
              <a:rPr lang="en-US" dirty="0" smtClean="0"/>
              <a:t>Analyze open ports and </a:t>
            </a:r>
            <a:r>
              <a:rPr lang="en-US" dirty="0" smtClean="0"/>
              <a:t>services</a:t>
            </a:r>
          </a:p>
          <a:p>
            <a:pPr>
              <a:buClrTx/>
              <a:buFont typeface="Wingdings" pitchFamily="2" charset="2"/>
              <a:buChar char="Ø"/>
            </a:pPr>
            <a:r>
              <a:rPr lang="en-US" dirty="0" smtClean="0"/>
              <a:t>Evaluate </a:t>
            </a:r>
            <a:r>
              <a:rPr lang="en-US" dirty="0" smtClean="0"/>
              <a:t>HTTP security headers </a:t>
            </a:r>
            <a:endParaRPr lang="en-US" dirty="0" smtClean="0"/>
          </a:p>
          <a:p>
            <a:pPr>
              <a:buClrTx/>
              <a:buFont typeface="Wingdings" pitchFamily="2" charset="2"/>
              <a:buChar char="Ø"/>
            </a:pPr>
            <a:r>
              <a:rPr lang="en-US" dirty="0" smtClean="0"/>
              <a:t>Perform </a:t>
            </a:r>
            <a:r>
              <a:rPr lang="en-US" dirty="0" smtClean="0"/>
              <a:t>automated and manual scanning </a:t>
            </a:r>
            <a:endParaRPr lang="en-US" dirty="0" smtClean="0"/>
          </a:p>
          <a:p>
            <a:pPr>
              <a:buClrTx/>
              <a:buNone/>
            </a:pPr>
            <a:r>
              <a:rPr lang="en-IN" sz="3200" b="1" dirty="0" smtClean="0"/>
              <a:t>Tools Used:</a:t>
            </a:r>
          </a:p>
          <a:p>
            <a:pPr>
              <a:buClrTx/>
              <a:buFont typeface="Wingdings" pitchFamily="2" charset="2"/>
              <a:buChar char="Ø"/>
            </a:pPr>
            <a:r>
              <a:rPr lang="en-US" dirty="0" err="1" smtClean="0"/>
              <a:t>Nmap</a:t>
            </a:r>
            <a:r>
              <a:rPr lang="en-US" dirty="0" smtClean="0"/>
              <a:t> (Network Scanning) </a:t>
            </a:r>
            <a:endParaRPr lang="en-US" dirty="0" smtClean="0"/>
          </a:p>
          <a:p>
            <a:pPr>
              <a:buClrTx/>
              <a:buFont typeface="Wingdings" pitchFamily="2" charset="2"/>
              <a:buChar char="Ø"/>
            </a:pPr>
            <a:r>
              <a:rPr lang="en-US" dirty="0" smtClean="0"/>
              <a:t>OWASP </a:t>
            </a:r>
            <a:r>
              <a:rPr lang="en-US" dirty="0" smtClean="0"/>
              <a:t>ZAP (Web Vulnerability Scanner) </a:t>
            </a:r>
            <a:endParaRPr lang="en-US" dirty="0" smtClean="0"/>
          </a:p>
          <a:p>
            <a:pPr>
              <a:buClrTx/>
              <a:buFont typeface="Wingdings" pitchFamily="2" charset="2"/>
              <a:buChar char="Ø"/>
            </a:pPr>
            <a:r>
              <a:rPr lang="en-US" dirty="0" smtClean="0"/>
              <a:t>Browser </a:t>
            </a:r>
            <a:r>
              <a:rPr lang="en-US" dirty="0" err="1" smtClean="0"/>
              <a:t>DevTools</a:t>
            </a:r>
            <a:r>
              <a:rPr lang="en-US" dirty="0" smtClean="0"/>
              <a:t> (Network Analysis</a:t>
            </a:r>
            <a:r>
              <a:rPr lang="en-US" dirty="0" smtClean="0"/>
              <a:t>)</a:t>
            </a:r>
          </a:p>
          <a:p>
            <a:pPr>
              <a:buClrTx/>
              <a:buFont typeface="Wingdings" pitchFamily="2" charset="2"/>
              <a:buChar char="Ø"/>
            </a:pPr>
            <a:r>
              <a:rPr lang="en-US" dirty="0" smtClean="0"/>
              <a:t>HTTP Header Inspection</a:t>
            </a:r>
            <a:endParaRPr lang="en-IN" b="1" dirty="0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219200"/>
          </a:xfrm>
        </p:spPr>
        <p:txBody>
          <a:bodyPr/>
          <a:lstStyle/>
          <a:p>
            <a:r>
              <a:rPr lang="en-IN" b="1" dirty="0" smtClean="0"/>
              <a:t>Overview</a:t>
            </a:r>
            <a:endParaRPr 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Tx/>
              <a:buFont typeface="Wingdings" pitchFamily="2" charset="2"/>
              <a:buChar char="Ø"/>
            </a:pPr>
            <a:r>
              <a:rPr lang="en-US" dirty="0" smtClean="0"/>
              <a:t>Command: </a:t>
            </a:r>
            <a:r>
              <a:rPr lang="en-US" dirty="0" err="1" smtClean="0"/>
              <a:t>nmap</a:t>
            </a:r>
            <a:r>
              <a:rPr lang="en-US" dirty="0" smtClean="0"/>
              <a:t> -T4 -F </a:t>
            </a:r>
            <a:r>
              <a:rPr lang="en-US" dirty="0" smtClean="0"/>
              <a:t>demo.testfire.net</a:t>
            </a:r>
          </a:p>
          <a:p>
            <a:pPr>
              <a:buClrTx/>
              <a:buFont typeface="Wingdings" pitchFamily="2" charset="2"/>
              <a:buChar char="Ø"/>
            </a:pPr>
            <a:r>
              <a:rPr lang="en-US" dirty="0" smtClean="0"/>
              <a:t>Open ports detected (25, 53, 80, 443, 8080) </a:t>
            </a:r>
            <a:r>
              <a:rPr lang="en-US" dirty="0" smtClean="0"/>
              <a:t> </a:t>
            </a:r>
          </a:p>
          <a:p>
            <a:pPr>
              <a:buClrTx/>
              <a:buFont typeface="Wingdings" pitchFamily="2" charset="2"/>
              <a:buChar char="Ø"/>
            </a:pPr>
            <a:r>
              <a:rPr lang="en-US" dirty="0" smtClean="0"/>
              <a:t>Host </a:t>
            </a:r>
            <a:r>
              <a:rPr lang="en-US" dirty="0" smtClean="0"/>
              <a:t>status identified (active) </a:t>
            </a:r>
            <a:endParaRPr lang="en-US" dirty="0" smtClean="0"/>
          </a:p>
          <a:p>
            <a:pPr>
              <a:buClrTx/>
              <a:buFont typeface="Wingdings" pitchFamily="2" charset="2"/>
              <a:buChar char="Ø"/>
            </a:pPr>
            <a:r>
              <a:rPr lang="en-US" dirty="0" smtClean="0"/>
              <a:t>Service </a:t>
            </a:r>
            <a:r>
              <a:rPr lang="en-US" dirty="0" smtClean="0"/>
              <a:t>exposure observed </a:t>
            </a:r>
            <a:endParaRPr lang="en-US" dirty="0" smtClean="0"/>
          </a:p>
          <a:p>
            <a:pPr>
              <a:buClrTx/>
              <a:buFont typeface="Wingdings" pitchFamily="2" charset="2"/>
              <a:buChar char="Ø"/>
            </a:pPr>
            <a:r>
              <a:rPr lang="en-US" dirty="0" smtClean="0"/>
              <a:t>Attack </a:t>
            </a:r>
            <a:r>
              <a:rPr lang="en-US" dirty="0" smtClean="0"/>
              <a:t>surface </a:t>
            </a:r>
            <a:r>
              <a:rPr lang="en-US" dirty="0" smtClean="0"/>
              <a:t>identified</a:t>
            </a:r>
          </a:p>
          <a:p>
            <a:pPr>
              <a:buClrTx/>
              <a:buFont typeface="Wingdings" pitchFamily="2" charset="2"/>
              <a:buChar char="Ø"/>
            </a:pPr>
            <a:r>
              <a:rPr lang="en-US" dirty="0" smtClean="0"/>
              <a:t>Fast </a:t>
            </a:r>
            <a:r>
              <a:rPr lang="en-US" dirty="0" smtClean="0"/>
              <a:t>scan performed </a:t>
            </a:r>
            <a:r>
              <a:rPr lang="en-US" dirty="0" smtClean="0"/>
              <a:t>on</a:t>
            </a:r>
          </a:p>
          <a:p>
            <a:pPr>
              <a:buClrTx/>
              <a:buNone/>
            </a:pPr>
            <a:r>
              <a:rPr lang="en-US" dirty="0" smtClean="0"/>
              <a:t>    </a:t>
            </a:r>
            <a:r>
              <a:rPr lang="en-US" dirty="0" smtClean="0"/>
              <a:t>target </a:t>
            </a:r>
          </a:p>
          <a:p>
            <a:pPr>
              <a:buClrTx/>
              <a:buFont typeface="Wingdings" pitchFamily="2" charset="2"/>
              <a:buChar char="Ø"/>
            </a:pP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 </a:t>
            </a:r>
            <a:r>
              <a:rPr b="1" smtClean="0"/>
              <a:t>Nmap Usage</a:t>
            </a:r>
            <a:endParaRPr lang="en-US" b="1" dirty="0"/>
          </a:p>
        </p:txBody>
      </p:sp>
      <p:pic>
        <p:nvPicPr>
          <p:cNvPr id="5" name="Picture 4" descr="WhatsApp Image 2026-04-24 at 9.05.08 PM (3).jpeg"/>
          <p:cNvPicPr>
            <a:picLocks noChangeAspect="1"/>
          </p:cNvPicPr>
          <p:nvPr/>
        </p:nvPicPr>
        <p:blipFill>
          <a:blip r:embed="rId2"/>
          <a:srcRect l="5208" t="6780" r="7292" b="13560"/>
          <a:stretch>
            <a:fillRect/>
          </a:stretch>
        </p:blipFill>
        <p:spPr>
          <a:xfrm>
            <a:off x="4786314" y="3071810"/>
            <a:ext cx="3929090" cy="335758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Tx/>
              <a:buFont typeface="Wingdings" pitchFamily="2" charset="2"/>
              <a:buChar char="Ø"/>
            </a:pPr>
            <a:r>
              <a:rPr lang="en-US" dirty="0" smtClean="0"/>
              <a:t>Cross-Site Scripting (XSS) detected </a:t>
            </a:r>
          </a:p>
          <a:p>
            <a:pPr>
              <a:buClrTx/>
              <a:buFont typeface="Wingdings" pitchFamily="2" charset="2"/>
              <a:buChar char="Ø"/>
            </a:pPr>
            <a:r>
              <a:rPr lang="en-US" dirty="0" smtClean="0"/>
              <a:t>SQL Injection vulnerability found </a:t>
            </a:r>
          </a:p>
          <a:p>
            <a:pPr>
              <a:buClrTx/>
              <a:buFont typeface="Wingdings" pitchFamily="2" charset="2"/>
              <a:buChar char="Ø"/>
            </a:pPr>
            <a:r>
              <a:rPr lang="en-US" dirty="0" smtClean="0"/>
              <a:t>Missing </a:t>
            </a:r>
            <a:r>
              <a:rPr lang="en-US" dirty="0" smtClean="0"/>
              <a:t>Anti-CSRF </a:t>
            </a:r>
            <a:r>
              <a:rPr lang="en-US" dirty="0" smtClean="0"/>
              <a:t>tokens </a:t>
            </a:r>
          </a:p>
          <a:p>
            <a:pPr>
              <a:buClrTx/>
              <a:buFont typeface="Wingdings" pitchFamily="2" charset="2"/>
              <a:buChar char="Ø"/>
            </a:pPr>
            <a:r>
              <a:rPr lang="en-US" dirty="0" smtClean="0"/>
              <a:t>Missing security headers (CSP, X-Frame</a:t>
            </a:r>
            <a:r>
              <a:rPr lang="en-US" dirty="0" smtClean="0"/>
              <a:t>)</a:t>
            </a:r>
          </a:p>
          <a:p>
            <a:pPr>
              <a:buClrTx/>
              <a:buFont typeface="Wingdings" pitchFamily="2" charset="2"/>
              <a:buChar char="Ø"/>
            </a:pPr>
            <a:r>
              <a:rPr lang="en-US" dirty="0" smtClean="0"/>
              <a:t>Missing Anti-</a:t>
            </a:r>
            <a:r>
              <a:rPr lang="en-US" dirty="0" err="1" smtClean="0"/>
              <a:t>clickjacking</a:t>
            </a:r>
            <a:r>
              <a:rPr lang="en-US" dirty="0" smtClean="0"/>
              <a:t> Header </a:t>
            </a:r>
          </a:p>
          <a:p>
            <a:pPr>
              <a:buClrTx/>
              <a:buFont typeface="Wingdings" pitchFamily="2" charset="2"/>
              <a:buChar char="Ø"/>
            </a:pPr>
            <a:r>
              <a:rPr lang="en-IN" dirty="0" smtClean="0"/>
              <a:t>Sub resource  Integrity Attribute missing</a:t>
            </a:r>
            <a:endParaRPr lang="en-US" dirty="0" smtClean="0"/>
          </a:p>
          <a:p>
            <a:pPr>
              <a:buClrTx/>
              <a:buFont typeface="Wingdings" pitchFamily="2" charset="2"/>
              <a:buChar char="Ø"/>
            </a:pPr>
            <a:r>
              <a:rPr lang="en-US" dirty="0" smtClean="0"/>
              <a:t>Cookie security </a:t>
            </a:r>
            <a:r>
              <a:rPr lang="en-US" dirty="0" err="1" smtClean="0"/>
              <a:t>misconfiguration</a:t>
            </a:r>
            <a:r>
              <a:rPr lang="en-US" dirty="0" smtClean="0"/>
              <a:t> </a:t>
            </a:r>
            <a:endParaRPr lang="en-US" dirty="0" smtClean="0"/>
          </a:p>
          <a:p>
            <a:pPr>
              <a:buClrTx/>
              <a:buFont typeface="Wingdings" pitchFamily="2" charset="2"/>
              <a:buChar char="Ø"/>
            </a:pPr>
            <a:r>
              <a:rPr lang="en-IN" dirty="0" smtClean="0"/>
              <a:t>Cross Domain JavaScript Source file Inclusion</a:t>
            </a:r>
            <a:endParaRPr lang="en-US" dirty="0" smtClean="0"/>
          </a:p>
          <a:p>
            <a:pPr>
              <a:buClrTx/>
              <a:buFont typeface="Wingdings" pitchFamily="2" charset="2"/>
              <a:buChar char="Ø"/>
            </a:pPr>
            <a:r>
              <a:rPr lang="en-US" dirty="0" smtClean="0"/>
              <a:t>Information disclosure </a:t>
            </a:r>
            <a:r>
              <a:rPr lang="en-US" dirty="0" smtClean="0"/>
              <a:t>issues</a:t>
            </a:r>
            <a:endParaRPr lang="en-US" dirty="0" smtClean="0"/>
          </a:p>
          <a:p>
            <a:pPr>
              <a:buClrTx/>
              <a:buFont typeface="Wingdings" pitchFamily="2" charset="2"/>
              <a:buChar char="Ø"/>
            </a:pP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mtClean="0"/>
              <a:t>Web Application Problems</a:t>
            </a:r>
            <a:endParaRPr lang="en-US" b="1" dirty="0"/>
          </a:p>
        </p:txBody>
      </p:sp>
      <p:pic>
        <p:nvPicPr>
          <p:cNvPr id="4" name="Picture 3" descr="WhatsApp Image 2026-04-24 at 9.05.08 PM (2).jpeg"/>
          <p:cNvPicPr>
            <a:picLocks noChangeAspect="1"/>
          </p:cNvPicPr>
          <p:nvPr/>
        </p:nvPicPr>
        <p:blipFill>
          <a:blip r:embed="rId2" cstate="print"/>
          <a:srcRect l="2532" t="12121" r="3797" b="12121"/>
          <a:stretch>
            <a:fillRect/>
          </a:stretch>
        </p:blipFill>
        <p:spPr>
          <a:xfrm>
            <a:off x="6072198" y="1285860"/>
            <a:ext cx="2606058" cy="17608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FF0000"/>
              </a:buClr>
              <a:buBlip>
                <a:blip r:embed="rId2"/>
              </a:buBlip>
            </a:pPr>
            <a:r>
              <a:rPr lang="en-US" dirty="0" smtClean="0"/>
              <a:t>Cross-Site Scripting (XSS</a:t>
            </a:r>
            <a:r>
              <a:rPr lang="en-US" dirty="0" smtClean="0"/>
              <a:t>)</a:t>
            </a:r>
          </a:p>
          <a:p>
            <a:pPr>
              <a:buClr>
                <a:srgbClr val="FF0000"/>
              </a:buClr>
              <a:buBlip>
                <a:blip r:embed="rId2"/>
              </a:buBlip>
            </a:pPr>
            <a:r>
              <a:rPr lang="en-US" dirty="0" smtClean="0"/>
              <a:t> </a:t>
            </a:r>
            <a:r>
              <a:rPr lang="en-US" dirty="0" smtClean="0"/>
              <a:t>detected </a:t>
            </a:r>
            <a:r>
              <a:rPr lang="en-US" dirty="0" smtClean="0"/>
              <a:t>SQL </a:t>
            </a:r>
            <a:r>
              <a:rPr lang="en-US" dirty="0" smtClean="0"/>
              <a:t>Injection vulnerability found </a:t>
            </a:r>
            <a:endParaRPr lang="en-IN" dirty="0" smtClean="0"/>
          </a:p>
          <a:p>
            <a:pPr>
              <a:buClr>
                <a:schemeClr val="accent2">
                  <a:lumMod val="75000"/>
                </a:schemeClr>
              </a:buClr>
              <a:buSzPct val="74000"/>
              <a:buFont typeface="Wingdings" pitchFamily="2" charset="2"/>
              <a:buChar char="v"/>
            </a:pPr>
            <a:r>
              <a:rPr lang="en-US" dirty="0" smtClean="0"/>
              <a:t>Missing Anti-CSRF tokens </a:t>
            </a:r>
          </a:p>
          <a:p>
            <a:pPr>
              <a:buClr>
                <a:schemeClr val="accent2">
                  <a:lumMod val="75000"/>
                </a:schemeClr>
              </a:buClr>
              <a:buSzPct val="74000"/>
              <a:buFont typeface="Wingdings" pitchFamily="2" charset="2"/>
              <a:buChar char="v"/>
            </a:pPr>
            <a:r>
              <a:rPr lang="en-US" dirty="0" smtClean="0"/>
              <a:t>Missing security headers (CSP, X-Frame)</a:t>
            </a:r>
          </a:p>
          <a:p>
            <a:pPr>
              <a:buClr>
                <a:schemeClr val="accent2">
                  <a:lumMod val="75000"/>
                </a:schemeClr>
              </a:buClr>
              <a:buSzPct val="74000"/>
              <a:buFont typeface="Wingdings" pitchFamily="2" charset="2"/>
              <a:buChar char="v"/>
            </a:pPr>
            <a:r>
              <a:rPr lang="en-US" dirty="0" smtClean="0"/>
              <a:t>Missing Anti-</a:t>
            </a:r>
            <a:r>
              <a:rPr lang="en-US" dirty="0" err="1" smtClean="0"/>
              <a:t>clickjacking</a:t>
            </a:r>
            <a:r>
              <a:rPr lang="en-US" dirty="0" smtClean="0"/>
              <a:t> Header </a:t>
            </a:r>
          </a:p>
          <a:p>
            <a:pPr>
              <a:buClr>
                <a:schemeClr val="accent2">
                  <a:lumMod val="75000"/>
                </a:schemeClr>
              </a:buClr>
              <a:buSzPct val="74000"/>
              <a:buFont typeface="Wingdings" pitchFamily="2" charset="2"/>
              <a:buChar char="v"/>
            </a:pPr>
            <a:r>
              <a:rPr lang="en-IN" dirty="0" smtClean="0"/>
              <a:t>Sub resource  Integrity Attribute </a:t>
            </a:r>
            <a:r>
              <a:rPr lang="en-IN" dirty="0" smtClean="0"/>
              <a:t>missing</a:t>
            </a:r>
          </a:p>
          <a:p>
            <a:pPr>
              <a:buBlip>
                <a:blip r:embed="rId3"/>
              </a:buBlip>
            </a:pPr>
            <a:r>
              <a:rPr lang="en-US" dirty="0" smtClean="0"/>
              <a:t>Cookie security </a:t>
            </a:r>
            <a:r>
              <a:rPr lang="en-US" dirty="0" err="1" smtClean="0"/>
              <a:t>misconfiguration</a:t>
            </a:r>
            <a:r>
              <a:rPr lang="en-US" dirty="0" smtClean="0"/>
              <a:t> </a:t>
            </a:r>
          </a:p>
          <a:p>
            <a:pPr>
              <a:buBlip>
                <a:blip r:embed="rId3"/>
              </a:buBlip>
            </a:pPr>
            <a:r>
              <a:rPr lang="en-IN" dirty="0" smtClean="0"/>
              <a:t>Cross Domain JavaScript Source file Inclusion</a:t>
            </a:r>
            <a:endParaRPr lang="en-US" dirty="0" smtClean="0"/>
          </a:p>
          <a:p>
            <a:pPr>
              <a:buBlip>
                <a:blip r:embed="rId3"/>
              </a:buBlip>
            </a:pPr>
            <a:r>
              <a:rPr lang="en-US" dirty="0" smtClean="0"/>
              <a:t>Information disclosure issues</a:t>
            </a:r>
          </a:p>
          <a:p>
            <a:endParaRPr lang="en-US" dirty="0" smtClean="0"/>
          </a:p>
          <a:p>
            <a:pPr>
              <a:buClr>
                <a:srgbClr val="FFC000"/>
              </a:buClr>
              <a:buSzPct val="74000"/>
              <a:buFont typeface="Wingdings" pitchFamily="2" charset="2"/>
              <a:buChar char="v"/>
            </a:pPr>
            <a:endParaRPr lang="en-IN" dirty="0" smtClean="0"/>
          </a:p>
          <a:p>
            <a:pPr>
              <a:buClr>
                <a:srgbClr val="FFC000"/>
              </a:buClr>
              <a:buSzPct val="74000"/>
              <a:buFont typeface="Wingdings" pitchFamily="2" charset="2"/>
              <a:buChar char="v"/>
            </a:pPr>
            <a:endParaRPr lang="en-US" dirty="0" smtClean="0"/>
          </a:p>
          <a:p>
            <a:pPr>
              <a:buClr>
                <a:srgbClr val="FFC000"/>
              </a:buClr>
              <a:buSzPct val="74000"/>
              <a:buFont typeface="Wingdings" pitchFamily="2" charset="2"/>
              <a:buChar char="v"/>
            </a:pPr>
            <a:endParaRPr lang="en-US" dirty="0" smtClean="0"/>
          </a:p>
          <a:p>
            <a:pPr>
              <a:buClr>
                <a:srgbClr val="FF0000"/>
              </a:buClr>
              <a:buBlip>
                <a:blip r:embed="rId2"/>
              </a:buBlip>
            </a:pPr>
            <a:endParaRPr lang="en-US" dirty="0" smtClean="0"/>
          </a:p>
          <a:p>
            <a:pPr>
              <a:buClr>
                <a:srgbClr val="FF0000"/>
              </a:buClr>
              <a:buNone/>
            </a:pP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mtClean="0"/>
              <a:t>Risk Classification</a:t>
            </a:r>
            <a:endParaRPr lang="en-US" b="1" dirty="0"/>
          </a:p>
        </p:txBody>
      </p:sp>
      <p:pic>
        <p:nvPicPr>
          <p:cNvPr id="4" name="Picture 3" descr="WhatsApp Image 2026-04-24 at 9.05.08 PM (1).jpeg"/>
          <p:cNvPicPr>
            <a:picLocks noChangeAspect="1"/>
          </p:cNvPicPr>
          <p:nvPr/>
        </p:nvPicPr>
        <p:blipFill>
          <a:blip r:embed="rId4" cstate="print"/>
          <a:srcRect t="12500" r="3906" b="12500"/>
          <a:stretch>
            <a:fillRect/>
          </a:stretch>
        </p:blipFill>
        <p:spPr>
          <a:xfrm>
            <a:off x="6572264" y="2571744"/>
            <a:ext cx="2327710" cy="136256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ClrTx/>
              <a:buFont typeface="Wingdings" pitchFamily="2" charset="2"/>
              <a:buChar char="Ø"/>
            </a:pPr>
            <a:r>
              <a:rPr lang="en-US" dirty="0" smtClean="0"/>
              <a:t>Inspect element using browser developer </a:t>
            </a:r>
            <a:r>
              <a:rPr lang="en-US" dirty="0" smtClean="0"/>
              <a:t>tools</a:t>
            </a:r>
          </a:p>
          <a:p>
            <a:pPr>
              <a:buClrTx/>
              <a:buFont typeface="Wingdings" pitchFamily="2" charset="2"/>
              <a:buChar char="Ø"/>
            </a:pPr>
            <a:r>
              <a:rPr lang="en-US" dirty="0" smtClean="0"/>
              <a:t> </a:t>
            </a:r>
            <a:r>
              <a:rPr lang="en-US" dirty="0" smtClean="0"/>
              <a:t>Analyze HTTP requests and </a:t>
            </a:r>
            <a:r>
              <a:rPr lang="en-US" dirty="0" smtClean="0"/>
              <a:t>responses</a:t>
            </a:r>
          </a:p>
          <a:p>
            <a:pPr>
              <a:buClrTx/>
              <a:buFont typeface="Wingdings" pitchFamily="2" charset="2"/>
              <a:buChar char="Ø"/>
            </a:pPr>
            <a:r>
              <a:rPr lang="en-US" dirty="0" smtClean="0"/>
              <a:t> </a:t>
            </a:r>
            <a:r>
              <a:rPr lang="en-US" dirty="0" smtClean="0"/>
              <a:t>Identify missing </a:t>
            </a:r>
            <a:r>
              <a:rPr lang="en-US" dirty="0" smtClean="0"/>
              <a:t>security</a:t>
            </a:r>
          </a:p>
          <a:p>
            <a:pPr>
              <a:buClrTx/>
              <a:buNone/>
            </a:pPr>
            <a:r>
              <a:rPr lang="en-US" dirty="0" smtClean="0"/>
              <a:t> </a:t>
            </a:r>
            <a:r>
              <a:rPr lang="en-US" dirty="0" smtClean="0"/>
              <a:t> headers</a:t>
            </a:r>
          </a:p>
          <a:p>
            <a:pPr>
              <a:buClrTx/>
              <a:buFont typeface="Wingdings" pitchFamily="2" charset="2"/>
              <a:buChar char="Ø"/>
            </a:pPr>
            <a:r>
              <a:rPr lang="en-US" dirty="0" smtClean="0"/>
              <a:t> </a:t>
            </a:r>
            <a:r>
              <a:rPr lang="en-US" dirty="0" smtClean="0"/>
              <a:t>Monitor cookies </a:t>
            </a:r>
            <a:r>
              <a:rPr lang="en-US" dirty="0" smtClean="0"/>
              <a:t>and</a:t>
            </a:r>
          </a:p>
          <a:p>
            <a:pPr>
              <a:buClrTx/>
              <a:buNone/>
            </a:pPr>
            <a:r>
              <a:rPr lang="en-US" dirty="0" smtClean="0"/>
              <a:t>     session data</a:t>
            </a:r>
          </a:p>
          <a:p>
            <a:pPr>
              <a:buClrTx/>
              <a:buFont typeface="Wingdings" pitchFamily="2" charset="2"/>
              <a:buChar char="Ø"/>
            </a:pPr>
            <a:r>
              <a:rPr lang="en-US" dirty="0" smtClean="0"/>
              <a:t> </a:t>
            </a:r>
            <a:r>
              <a:rPr lang="en-US" dirty="0" smtClean="0"/>
              <a:t>Detect </a:t>
            </a:r>
            <a:r>
              <a:rPr lang="en-US" dirty="0" smtClean="0"/>
              <a:t>client-side</a:t>
            </a:r>
          </a:p>
          <a:p>
            <a:pPr>
              <a:buClrTx/>
              <a:buNone/>
            </a:pPr>
            <a:r>
              <a:rPr lang="en-US" dirty="0" smtClean="0"/>
              <a:t> </a:t>
            </a:r>
            <a:r>
              <a:rPr lang="en-US" dirty="0" smtClean="0"/>
              <a:t>  </a:t>
            </a:r>
            <a:r>
              <a:rPr lang="en-US" dirty="0" smtClean="0"/>
              <a:t>vulnerabilities </a:t>
            </a:r>
            <a:endParaRPr lang="en-US" dirty="0" smtClean="0"/>
          </a:p>
          <a:p>
            <a:pPr>
              <a:buClrTx/>
              <a:buFont typeface="Wingdings" pitchFamily="2" charset="2"/>
              <a:buChar char="Ø"/>
            </a:pPr>
            <a:r>
              <a:rPr lang="en-US" dirty="0" smtClean="0"/>
              <a:t>Debug </a:t>
            </a:r>
            <a:r>
              <a:rPr lang="en-US" dirty="0" smtClean="0"/>
              <a:t>JavaScript and web behavior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28596" y="571480"/>
            <a:ext cx="8229600" cy="1219200"/>
          </a:xfrm>
        </p:spPr>
        <p:txBody>
          <a:bodyPr>
            <a:normAutofit fontScale="90000"/>
          </a:bodyPr>
          <a:lstStyle/>
          <a:p>
            <a:r>
              <a:rPr b="1" smtClean="0"/>
              <a:t>Browser DevTools Usage</a:t>
            </a:r>
            <a:br>
              <a:rPr b="1" smtClean="0"/>
            </a:br>
            <a:endParaRPr lang="en-US" dirty="0"/>
          </a:p>
        </p:txBody>
      </p:sp>
      <p:pic>
        <p:nvPicPr>
          <p:cNvPr id="5" name="Picture 4" descr="WhatsApp Image 2026-04-24 at 9.05.07 PM.jpeg"/>
          <p:cNvPicPr>
            <a:picLocks noChangeAspect="1"/>
          </p:cNvPicPr>
          <p:nvPr/>
        </p:nvPicPr>
        <p:blipFill>
          <a:blip r:embed="rId2"/>
          <a:srcRect l="2632" t="6061" b="18181"/>
          <a:stretch>
            <a:fillRect/>
          </a:stretch>
        </p:blipFill>
        <p:spPr>
          <a:xfrm>
            <a:off x="4572000" y="2714620"/>
            <a:ext cx="4071934" cy="228601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Tx/>
              <a:buFont typeface="Wingdings" pitchFamily="2" charset="2"/>
              <a:buChar char="Ø"/>
            </a:pPr>
            <a:r>
              <a:rPr lang="en-US" dirty="0" smtClean="0"/>
              <a:t>Customer data can be stolen </a:t>
            </a:r>
            <a:endParaRPr lang="en-US" dirty="0" smtClean="0"/>
          </a:p>
          <a:p>
            <a:pPr>
              <a:buClrTx/>
              <a:buFont typeface="Wingdings" pitchFamily="2" charset="2"/>
              <a:buChar char="Ø"/>
            </a:pPr>
            <a:r>
              <a:rPr lang="en-US" dirty="0" smtClean="0"/>
              <a:t>Unauthorized </a:t>
            </a:r>
            <a:r>
              <a:rPr lang="en-US" dirty="0" smtClean="0"/>
              <a:t>access possible </a:t>
            </a:r>
            <a:endParaRPr lang="en-US" dirty="0" smtClean="0"/>
          </a:p>
          <a:p>
            <a:pPr>
              <a:buClrTx/>
              <a:buFont typeface="Wingdings" pitchFamily="2" charset="2"/>
              <a:buChar char="Ø"/>
            </a:pPr>
            <a:r>
              <a:rPr lang="en-US" dirty="0" smtClean="0"/>
              <a:t>Website </a:t>
            </a:r>
            <a:r>
              <a:rPr lang="en-US" dirty="0" smtClean="0"/>
              <a:t>trust may be damaged </a:t>
            </a:r>
            <a:endParaRPr lang="en-US" dirty="0" smtClean="0"/>
          </a:p>
          <a:p>
            <a:pPr>
              <a:buClrTx/>
              <a:buFont typeface="Wingdings" pitchFamily="2" charset="2"/>
              <a:buChar char="Ø"/>
            </a:pPr>
            <a:r>
              <a:rPr lang="en-US" dirty="0" smtClean="0"/>
              <a:t>Financial </a:t>
            </a:r>
            <a:r>
              <a:rPr lang="en-US" dirty="0" smtClean="0"/>
              <a:t>loss risk exists </a:t>
            </a:r>
            <a:endParaRPr lang="en-US" dirty="0" smtClean="0"/>
          </a:p>
          <a:p>
            <a:pPr>
              <a:buClrTx/>
              <a:buFont typeface="Wingdings" pitchFamily="2" charset="2"/>
              <a:buChar char="Ø"/>
            </a:pPr>
            <a:r>
              <a:rPr lang="en-US" dirty="0" smtClean="0"/>
              <a:t>Legal </a:t>
            </a:r>
            <a:r>
              <a:rPr lang="en-US" dirty="0" smtClean="0"/>
              <a:t>compliance issues may </a:t>
            </a:r>
            <a:r>
              <a:rPr lang="en-US" dirty="0" smtClean="0"/>
              <a:t>occur</a:t>
            </a:r>
          </a:p>
          <a:p>
            <a:pPr>
              <a:buClrTx/>
              <a:buFont typeface="Wingdings" pitchFamily="2" charset="2"/>
              <a:buChar char="Ø"/>
            </a:pPr>
            <a:r>
              <a:rPr lang="en-US" dirty="0" smtClean="0"/>
              <a:t> </a:t>
            </a:r>
            <a:r>
              <a:rPr lang="en-US" dirty="0" smtClean="0"/>
              <a:t>Brand reputation may decrease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Issues</a:t>
            </a:r>
            <a:endParaRPr 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Tx/>
              <a:buFont typeface="Wingdings" pitchFamily="2" charset="2"/>
              <a:buChar char="Ø"/>
            </a:pPr>
            <a:r>
              <a:rPr lang="en-US" dirty="0" smtClean="0"/>
              <a:t>Use parameterized queries (</a:t>
            </a:r>
            <a:r>
              <a:rPr lang="en-US" dirty="0" err="1" smtClean="0"/>
              <a:t>SQLi</a:t>
            </a:r>
            <a:r>
              <a:rPr lang="en-US" dirty="0" smtClean="0"/>
              <a:t> fix) </a:t>
            </a:r>
            <a:endParaRPr lang="en-US" dirty="0" smtClean="0"/>
          </a:p>
          <a:p>
            <a:pPr>
              <a:buClrTx/>
              <a:buFont typeface="Wingdings" pitchFamily="2" charset="2"/>
              <a:buChar char="Ø"/>
            </a:pPr>
            <a:r>
              <a:rPr lang="en-US" dirty="0" smtClean="0"/>
              <a:t>Apply </a:t>
            </a:r>
            <a:r>
              <a:rPr lang="en-US" dirty="0" smtClean="0"/>
              <a:t>input validation and </a:t>
            </a:r>
            <a:r>
              <a:rPr lang="en-US" dirty="0" smtClean="0"/>
              <a:t>sanitization</a:t>
            </a:r>
          </a:p>
          <a:p>
            <a:pPr>
              <a:buClrTx/>
              <a:buFont typeface="Wingdings" pitchFamily="2" charset="2"/>
              <a:buChar char="Ø"/>
            </a:pPr>
            <a:r>
              <a:rPr lang="en-US" dirty="0" smtClean="0"/>
              <a:t> </a:t>
            </a:r>
            <a:r>
              <a:rPr lang="en-US" dirty="0" smtClean="0"/>
              <a:t>Implement CSRF protection </a:t>
            </a:r>
            <a:r>
              <a:rPr lang="en-US" dirty="0" smtClean="0"/>
              <a:t>tokens</a:t>
            </a:r>
          </a:p>
          <a:p>
            <a:pPr>
              <a:buClrTx/>
              <a:buFont typeface="Wingdings" pitchFamily="2" charset="2"/>
              <a:buChar char="Ø"/>
            </a:pPr>
            <a:r>
              <a:rPr lang="en-US" dirty="0" smtClean="0"/>
              <a:t> </a:t>
            </a:r>
            <a:r>
              <a:rPr lang="en-US" dirty="0" smtClean="0"/>
              <a:t>Add security headers (CSP, X-Frame) </a:t>
            </a:r>
          </a:p>
          <a:p>
            <a:pPr>
              <a:buClrTx/>
              <a:buFont typeface="Wingdings" pitchFamily="2" charset="2"/>
              <a:buChar char="Ø"/>
            </a:pPr>
            <a:r>
              <a:rPr lang="en-US" dirty="0" smtClean="0"/>
              <a:t>Secure </a:t>
            </a:r>
            <a:r>
              <a:rPr lang="en-US" dirty="0" smtClean="0"/>
              <a:t>cookies with proper attributes </a:t>
            </a:r>
            <a:endParaRPr lang="en-US" dirty="0" smtClean="0"/>
          </a:p>
          <a:p>
            <a:pPr>
              <a:buClrTx/>
              <a:buFont typeface="Wingdings" pitchFamily="2" charset="2"/>
              <a:buChar char="Ø"/>
            </a:pPr>
            <a:r>
              <a:rPr lang="en-US" dirty="0" smtClean="0"/>
              <a:t>Regular </a:t>
            </a:r>
            <a:r>
              <a:rPr lang="en-US" dirty="0" smtClean="0"/>
              <a:t>patching and updates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mtClean="0"/>
              <a:t>Remediation Steps</a:t>
            </a:r>
            <a:endParaRPr 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Tx/>
              <a:buFont typeface="Wingdings" pitchFamily="2" charset="2"/>
              <a:buChar char="Ø"/>
            </a:pPr>
            <a:r>
              <a:rPr lang="en-US" dirty="0" smtClean="0"/>
              <a:t>Vulnerabilities successfully identified </a:t>
            </a:r>
          </a:p>
          <a:p>
            <a:pPr>
              <a:buClrTx/>
              <a:buFont typeface="Wingdings" pitchFamily="2" charset="2"/>
              <a:buChar char="Ø"/>
            </a:pPr>
            <a:r>
              <a:rPr lang="en-US" dirty="0" smtClean="0"/>
              <a:t>High-risk issues need immediate fix </a:t>
            </a:r>
          </a:p>
          <a:p>
            <a:pPr>
              <a:buClrTx/>
              <a:buFont typeface="Wingdings" pitchFamily="2" charset="2"/>
              <a:buChar char="Ø"/>
            </a:pPr>
            <a:r>
              <a:rPr lang="en-US" dirty="0" smtClean="0"/>
              <a:t>Security posture needs improvement </a:t>
            </a:r>
          </a:p>
          <a:p>
            <a:pPr>
              <a:buClrTx/>
              <a:buFont typeface="Wingdings" pitchFamily="2" charset="2"/>
              <a:buChar char="Ø"/>
            </a:pPr>
            <a:r>
              <a:rPr lang="en-US" dirty="0" smtClean="0"/>
              <a:t>Proper configuration reduces risk </a:t>
            </a:r>
          </a:p>
          <a:p>
            <a:pPr>
              <a:buClrTx/>
              <a:buFont typeface="Wingdings" pitchFamily="2" charset="2"/>
              <a:buChar char="Ø"/>
            </a:pPr>
            <a:r>
              <a:rPr lang="en-US" dirty="0" smtClean="0"/>
              <a:t>Regular testing is required </a:t>
            </a:r>
          </a:p>
          <a:p>
            <a:pPr>
              <a:buClrTx/>
              <a:buFont typeface="Wingdings" pitchFamily="2" charset="2"/>
              <a:buChar char="Ø"/>
            </a:pPr>
            <a:r>
              <a:rPr lang="en-US" dirty="0" smtClean="0"/>
              <a:t>Continuous monitoring is important </a:t>
            </a:r>
          </a:p>
          <a:p>
            <a:pPr>
              <a:buClrTx/>
              <a:buFont typeface="Wingdings" pitchFamily="2" charset="2"/>
              <a:buChar char="Ø"/>
            </a:pP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mtClean="0"/>
              <a:t>Conclusion</a:t>
            </a:r>
            <a:endParaRPr 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Tx/>
              <a:buNone/>
            </a:pPr>
            <a:r>
              <a:rPr lang="en-US" b="1" dirty="0" smtClean="0"/>
              <a:t>Skills Gained:</a:t>
            </a:r>
            <a:endParaRPr lang="en-US" dirty="0" smtClean="0"/>
          </a:p>
          <a:p>
            <a:pPr>
              <a:buClrTx/>
              <a:buFont typeface="Wingdings" pitchFamily="2" charset="2"/>
              <a:buChar char="Ø"/>
            </a:pPr>
            <a:r>
              <a:rPr lang="en-US" dirty="0" smtClean="0"/>
              <a:t>Network scanning &amp; enumeration </a:t>
            </a:r>
          </a:p>
          <a:p>
            <a:pPr>
              <a:buClrTx/>
              <a:buFont typeface="Wingdings" pitchFamily="2" charset="2"/>
              <a:buChar char="Ø"/>
            </a:pPr>
            <a:r>
              <a:rPr lang="en-US" dirty="0" smtClean="0"/>
              <a:t>Vulnerability analysis </a:t>
            </a:r>
          </a:p>
          <a:p>
            <a:pPr>
              <a:buClrTx/>
              <a:buFont typeface="Wingdings" pitchFamily="2" charset="2"/>
              <a:buChar char="Ø"/>
            </a:pPr>
            <a:r>
              <a:rPr lang="en-US" dirty="0" smtClean="0"/>
              <a:t>Risk classification </a:t>
            </a:r>
          </a:p>
          <a:p>
            <a:pPr>
              <a:buClrTx/>
              <a:buFont typeface="Wingdings" pitchFamily="2" charset="2"/>
              <a:buChar char="Ø"/>
            </a:pPr>
            <a:r>
              <a:rPr lang="en-US" dirty="0" smtClean="0"/>
              <a:t>Security testing methodology </a:t>
            </a:r>
          </a:p>
          <a:p>
            <a:pPr>
              <a:buClrTx/>
              <a:buFont typeface="Wingdings" pitchFamily="2" charset="2"/>
              <a:buChar char="Ø"/>
            </a:pPr>
            <a:r>
              <a:rPr lang="en-US" dirty="0" smtClean="0"/>
              <a:t>Understanding OWASP Top 10 </a:t>
            </a:r>
          </a:p>
          <a:p>
            <a:pPr>
              <a:buClrTx/>
              <a:buFont typeface="Wingdings" pitchFamily="2" charset="2"/>
              <a:buChar char="Ø"/>
            </a:pPr>
            <a:r>
              <a:rPr lang="en-US" dirty="0" smtClean="0"/>
              <a:t>Report writing skills</a:t>
            </a:r>
          </a:p>
          <a:p>
            <a:pPr>
              <a:buClrTx/>
              <a:buFont typeface="Wingdings" pitchFamily="2" charset="2"/>
              <a:buChar char="Ø"/>
            </a:pP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mtClean="0"/>
              <a:t>Thank You</a:t>
            </a:r>
            <a:endParaRPr 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per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Paper">
      <a:maj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Paper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63000"/>
                <a:tint val="82000"/>
              </a:schemeClr>
              <a:schemeClr val="phClr">
                <a:tint val="10000"/>
                <a:satMod val="400000"/>
              </a:schemeClr>
            </a:duotone>
          </a:blip>
          <a:tile tx="0" ty="0" sx="40000" sy="40000" flip="none" algn="tl"/>
        </a:blipFill>
        <a:blipFill>
          <a:blip xmlns:r="http://schemas.openxmlformats.org/officeDocument/2006/relationships" r:embed="rId1">
            <a:duotone>
              <a:schemeClr val="phClr">
                <a:shade val="40000"/>
              </a:schemeClr>
              <a:schemeClr val="phClr">
                <a:tint val="42000"/>
              </a:schemeClr>
            </a:duotone>
          </a:blip>
          <a:tile tx="0" ty="0" sx="40000" sy="4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algn="tl" rotWithShape="0">
              <a:srgbClr val="000000">
                <a:alpha val="50000"/>
              </a:srgbClr>
            </a:outerShdw>
          </a:effectLst>
          <a:scene3d>
            <a:camera prst="orthographicFront"/>
            <a:lightRig rig="soft" dir="t">
              <a:rot lat="0" lon="0" rev="18000000"/>
            </a:lightRig>
          </a:scene3d>
          <a:sp3d prstMaterial="dkEdge">
            <a:bevelT w="73660" h="44450" prst="riblet"/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55000"/>
                <a:alpha val="20000"/>
              </a:schemeClr>
              <a:schemeClr val="phClr">
                <a:tint val="40000"/>
                <a:shade val="90000"/>
                <a:satMod val="60000"/>
                <a:alpha val="20000"/>
              </a:schemeClr>
            </a:duotone>
          </a:blip>
          <a:tile tx="0" ty="0" sx="58000" sy="38000" flip="none" algn="tl"/>
        </a:blipFill>
        <a:blipFill>
          <a:blip xmlns:r="http://schemas.openxmlformats.org/officeDocument/2006/relationships" r:embed="rId2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212</TotalTime>
  <Words>352</Words>
  <Application>Microsoft Office PowerPoint</Application>
  <PresentationFormat>On-screen Show (4:3)</PresentationFormat>
  <Paragraphs>86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Paper</vt:lpstr>
      <vt:lpstr>    Vulnerability Assessment Report</vt:lpstr>
      <vt:lpstr>Overview</vt:lpstr>
      <vt:lpstr> Nmap Usage</vt:lpstr>
      <vt:lpstr>Web Application Problems</vt:lpstr>
      <vt:lpstr>Risk Classification</vt:lpstr>
      <vt:lpstr>Browser DevTools Usage </vt:lpstr>
      <vt:lpstr>Issues</vt:lpstr>
      <vt:lpstr>Remediation Steps</vt:lpstr>
      <vt:lpstr>Conclusion</vt:lpstr>
      <vt:lpstr>Thank You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dell</dc:creator>
  <cp:lastModifiedBy>dell</cp:lastModifiedBy>
  <cp:revision>12</cp:revision>
  <dcterms:created xsi:type="dcterms:W3CDTF">2026-04-24T13:49:59Z</dcterms:created>
  <dcterms:modified xsi:type="dcterms:W3CDTF">2026-04-24T17:22:56Z</dcterms:modified>
</cp:coreProperties>
</file>