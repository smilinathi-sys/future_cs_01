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  <p:sldId id="269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0959" autoAdjust="0"/>
    <p:restoredTop sz="94660"/>
  </p:normalViewPr>
  <p:slideViewPr>
    <p:cSldViewPr>
      <p:cViewPr varScale="1">
        <p:scale>
          <a:sx n="64" d="100"/>
          <a:sy n="64" d="100"/>
        </p:scale>
        <p:origin x="-1516" y="-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nip and Round Single Corner Rectangle 8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ight Triangle 11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10" name="Freeform 9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Freeform 10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E7CA1FF0-4C9A-427C-A874-1ED9F5B29D85}" type="datetimeFigureOut">
              <a:rPr lang="en-US" smtClean="0"/>
              <a:pPr/>
              <a:t>4/25/2026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A398D233-E63C-4DB5-8461-17BF1B7FF5BA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Freef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Freef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8596" y="571480"/>
            <a:ext cx="8305800" cy="1981200"/>
          </a:xfrm>
        </p:spPr>
        <p:txBody>
          <a:bodyPr anchor="ctr"/>
          <a:lstStyle/>
          <a:p>
            <a:pPr algn="ctr"/>
            <a:r>
              <a:rPr lang="en-IN" b="1" smtClean="0">
                <a:latin typeface="Montserrat"/>
              </a:rPr>
              <a:t> </a:t>
            </a:r>
            <a:r>
              <a:rPr lang="en-IN" b="1" smtClean="0">
                <a:latin typeface="Montserrat"/>
              </a:rPr>
              <a:t>Vulnerability Assessment Report</a:t>
            </a:r>
            <a:endParaRPr lang="en-US" b="1">
              <a:latin typeface="Montserra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24" y="3143248"/>
            <a:ext cx="7643866" cy="1752600"/>
          </a:xfrm>
        </p:spPr>
        <p:txBody>
          <a:bodyPr anchor="ctr">
            <a:noAutofit/>
          </a:bodyPr>
          <a:lstStyle/>
          <a:p>
            <a:pPr algn="ctr"/>
            <a:r>
              <a:rPr lang="en-IN" sz="800" smtClean="0"/>
              <a:t>    </a:t>
            </a:r>
          </a:p>
          <a:p>
            <a:pPr algn="ctr"/>
            <a:r>
              <a:rPr lang="en-IN" sz="1000" spc="0" smtClean="0"/>
              <a:t>        </a:t>
            </a:r>
            <a:r>
              <a:rPr lang="en-IN" sz="2400" b="1" spc="0" smtClean="0"/>
              <a:t>Aim</a:t>
            </a:r>
            <a:r>
              <a:rPr lang="en-IN" sz="1800" b="1" spc="0" smtClean="0"/>
              <a:t>: </a:t>
            </a:r>
            <a:r>
              <a:rPr lang="en-US" sz="2400" spc="0" smtClean="0"/>
              <a:t>Vulnerability Assessment </a:t>
            </a:r>
            <a:r>
              <a:rPr lang="en-US" sz="2400" spc="0" smtClean="0"/>
              <a:t>of</a:t>
            </a:r>
            <a:r>
              <a:rPr lang="en-US" sz="2400" spc="0" smtClean="0"/>
              <a:t> </a:t>
            </a:r>
            <a:r>
              <a:rPr lang="en-US" sz="2400" spc="0" smtClean="0"/>
              <a:t>a </a:t>
            </a:r>
            <a:r>
              <a:rPr lang="en-US" sz="2400" spc="0" smtClean="0"/>
              <a:t>Live Website</a:t>
            </a:r>
            <a:endParaRPr lang="en-IN" sz="2400" spc="0" smtClean="0"/>
          </a:p>
          <a:p>
            <a:pPr algn="ctr"/>
            <a:r>
              <a:rPr lang="en-IN" sz="2400" spc="0" smtClean="0"/>
              <a:t>  </a:t>
            </a:r>
            <a:r>
              <a:rPr lang="en-IN" sz="2400" b="1" spc="0" smtClean="0"/>
              <a:t>Target </a:t>
            </a:r>
            <a:r>
              <a:rPr lang="en-IN" sz="2400" b="1" spc="0" smtClean="0"/>
              <a:t>website</a:t>
            </a:r>
            <a:r>
              <a:rPr lang="en-IN" sz="2400" spc="0" smtClean="0"/>
              <a:t>: </a:t>
            </a:r>
            <a:r>
              <a:rPr lang="en-IN" sz="2400" spc="0" smtClean="0"/>
              <a:t>demo.testfire.net</a:t>
            </a:r>
          </a:p>
          <a:p>
            <a:pPr algn="ctr"/>
            <a:r>
              <a:rPr lang="en-IN" sz="2400" b="1" spc="0" smtClean="0"/>
              <a:t>Reported by: N</a:t>
            </a:r>
            <a:r>
              <a:rPr lang="en-IN" sz="2400" b="1" spc="0" smtClean="0"/>
              <a:t>. </a:t>
            </a:r>
            <a:r>
              <a:rPr lang="en-IN" sz="2400" b="1" spc="0" err="1" smtClean="0"/>
              <a:t>Smili</a:t>
            </a:r>
            <a:endParaRPr lang="en-US" sz="2400" b="1" spc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219200"/>
          </a:xfrm>
        </p:spPr>
        <p:txBody>
          <a:bodyPr>
            <a:normAutofit/>
          </a:bodyPr>
          <a:lstStyle/>
          <a:p>
            <a:pPr algn="ctr"/>
            <a:r>
              <a:rPr lang="en-IN" sz="4800" b="1" smtClean="0"/>
              <a:t>Overview</a:t>
            </a:r>
            <a:endParaRPr lang="en-US" sz="4400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28596" y="1357298"/>
            <a:ext cx="8229600" cy="4857784"/>
          </a:xfrm>
        </p:spPr>
        <p:txBody>
          <a:bodyPr>
            <a:noAutofit/>
          </a:bodyPr>
          <a:lstStyle/>
          <a:p>
            <a:pPr>
              <a:buClrTx/>
              <a:buFont typeface="Wingdings" pitchFamily="2" charset="2"/>
              <a:buChar char="Ø"/>
            </a:pPr>
            <a:r>
              <a:rPr lang="en-US" smtClean="0"/>
              <a:t>Identify </a:t>
            </a:r>
            <a:r>
              <a:rPr lang="en-US" smtClean="0"/>
              <a:t>web</a:t>
            </a:r>
            <a:r>
              <a:rPr lang="en-US" smtClean="0"/>
              <a:t> </a:t>
            </a:r>
            <a:r>
              <a:rPr lang="en-US" smtClean="0"/>
              <a:t>vulnerabilities </a:t>
            </a:r>
          </a:p>
          <a:p>
            <a:pPr>
              <a:buClrTx/>
              <a:buFont typeface="Wingdings" pitchFamily="2" charset="2"/>
              <a:buChar char="Ø"/>
            </a:pPr>
            <a:r>
              <a:rPr lang="en-US" smtClean="0"/>
              <a:t> Analyze open ports </a:t>
            </a:r>
            <a:r>
              <a:rPr lang="en-US" smtClean="0"/>
              <a:t>&amp;</a:t>
            </a:r>
            <a:r>
              <a:rPr lang="en-US" smtClean="0"/>
              <a:t> </a:t>
            </a:r>
            <a:r>
              <a:rPr lang="en-US" smtClean="0"/>
              <a:t>services</a:t>
            </a:r>
          </a:p>
          <a:p>
            <a:pPr>
              <a:buClrTx/>
              <a:buFont typeface="Wingdings" pitchFamily="2" charset="2"/>
              <a:buChar char="Ø"/>
            </a:pPr>
            <a:r>
              <a:rPr lang="en-US" smtClean="0"/>
              <a:t>Evaluate </a:t>
            </a:r>
            <a:r>
              <a:rPr lang="en-US" smtClean="0"/>
              <a:t>HTTP </a:t>
            </a:r>
            <a:r>
              <a:rPr lang="en-US" smtClean="0"/>
              <a:t>security headers </a:t>
            </a:r>
          </a:p>
          <a:p>
            <a:pPr>
              <a:buClrTx/>
              <a:buFont typeface="Wingdings" pitchFamily="2" charset="2"/>
              <a:buChar char="Ø"/>
            </a:pPr>
            <a:r>
              <a:rPr lang="en-US" smtClean="0"/>
              <a:t>Perform automated </a:t>
            </a:r>
            <a:r>
              <a:rPr lang="en-US" smtClean="0"/>
              <a:t>&amp;</a:t>
            </a:r>
            <a:r>
              <a:rPr lang="en-US" smtClean="0"/>
              <a:t> </a:t>
            </a:r>
            <a:r>
              <a:rPr lang="en-US" smtClean="0"/>
              <a:t>manual scanning </a:t>
            </a:r>
            <a:endParaRPr lang="en-US" smtClean="0"/>
          </a:p>
          <a:p>
            <a:pPr>
              <a:buClrTx/>
              <a:buNone/>
            </a:pPr>
            <a:endParaRPr lang="en-US" smtClean="0"/>
          </a:p>
          <a:p>
            <a:pPr>
              <a:buClrTx/>
              <a:buNone/>
            </a:pPr>
            <a:r>
              <a:rPr lang="en-IN" sz="3200" b="1" smtClean="0"/>
              <a:t>Tools Used:</a:t>
            </a:r>
          </a:p>
          <a:p>
            <a:pPr>
              <a:buClrTx/>
              <a:buFont typeface="Wingdings" pitchFamily="2" charset="2"/>
              <a:buChar char="Ø"/>
            </a:pPr>
            <a:r>
              <a:rPr lang="en-US" smtClean="0"/>
              <a:t>Nmap</a:t>
            </a:r>
            <a:endParaRPr lang="en-US" smtClean="0"/>
          </a:p>
          <a:p>
            <a:pPr>
              <a:buClrTx/>
              <a:buFont typeface="Wingdings" pitchFamily="2" charset="2"/>
              <a:buChar char="Ø"/>
            </a:pPr>
            <a:r>
              <a:rPr lang="en-US" smtClean="0"/>
              <a:t>OWASP </a:t>
            </a:r>
            <a:r>
              <a:rPr lang="en-US" smtClean="0"/>
              <a:t>ZAP</a:t>
            </a:r>
            <a:endParaRPr lang="en-US" smtClean="0"/>
          </a:p>
          <a:p>
            <a:pPr>
              <a:buClrTx/>
              <a:buFont typeface="Wingdings" pitchFamily="2" charset="2"/>
              <a:buChar char="Ø"/>
            </a:pPr>
            <a:r>
              <a:rPr lang="en-US" smtClean="0"/>
              <a:t>Browser </a:t>
            </a:r>
            <a:r>
              <a:rPr lang="en-US" smtClean="0"/>
              <a:t>DevTools</a:t>
            </a:r>
            <a:endParaRPr lang="en-US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4400" b="1" smtClean="0"/>
              <a:t> </a:t>
            </a:r>
            <a:r>
              <a:rPr sz="4400" b="1" smtClean="0"/>
              <a:t>Nmap Usage</a:t>
            </a:r>
            <a:endParaRPr lang="en-US" sz="4400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Command: nmap -T4 -F demo.testfire.net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Open ports detected (25, 53, 80, 443, 8080) 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Host status identified (active)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Service exposure observed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Attack surface identified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Fast scan performed </a:t>
            </a:r>
            <a:r>
              <a:rPr lang="en-US" sz="2400" smtClean="0"/>
              <a:t>on </a:t>
            </a:r>
            <a:r>
              <a:rPr lang="en-US" sz="2400" smtClean="0"/>
              <a:t>target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endParaRPr lang="en-US" sz="2400"/>
          </a:p>
        </p:txBody>
      </p:sp>
      <p:pic>
        <p:nvPicPr>
          <p:cNvPr id="5" name="Picture 4" descr="WhatsApp Image 2026-04-24 at 9.05.08 PM (3).jpeg"/>
          <p:cNvPicPr>
            <a:picLocks noChangeAspect="1"/>
          </p:cNvPicPr>
          <p:nvPr/>
        </p:nvPicPr>
        <p:blipFill>
          <a:blip r:embed="rId2"/>
          <a:srcRect l="5208" t="14022" r="5390" b="13560"/>
          <a:stretch>
            <a:fillRect/>
          </a:stretch>
        </p:blipFill>
        <p:spPr>
          <a:xfrm>
            <a:off x="5214942" y="3357562"/>
            <a:ext cx="3357586" cy="2857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28596" y="357166"/>
            <a:ext cx="8229600" cy="1143000"/>
          </a:xfrm>
        </p:spPr>
        <p:txBody>
          <a:bodyPr>
            <a:normAutofit/>
          </a:bodyPr>
          <a:lstStyle/>
          <a:p>
            <a:r>
              <a:rPr sz="4400" b="1" smtClean="0"/>
              <a:t>Web Application Problems</a:t>
            </a:r>
            <a:endParaRPr lang="en-US" sz="4400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57158" y="1600200"/>
            <a:ext cx="8329642" cy="4709160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Cross-Site Scripting (XSS) detected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SQL Injection vulnerability found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Missing Anti-CSRF tokens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Missing security headers (CSP, X-Frame)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Missing Anti-</a:t>
            </a:r>
            <a:r>
              <a:rPr lang="en-US" sz="2400" err="1" smtClean="0"/>
              <a:t>clickjacking</a:t>
            </a:r>
            <a:r>
              <a:rPr lang="en-US" sz="2400" smtClean="0"/>
              <a:t> Header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IN" sz="2400" smtClean="0"/>
              <a:t>Subresource  </a:t>
            </a:r>
            <a:r>
              <a:rPr lang="en-IN" sz="2400" smtClean="0"/>
              <a:t>Integrity Attribute missing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Cookie security misconfiguration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IN" sz="2400" smtClean="0"/>
              <a:t>Cross Domain JavaScript Source file Inclusion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Information disclosure issues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endParaRPr lang="en-US" sz="2400"/>
          </a:p>
        </p:txBody>
      </p:sp>
      <p:pic>
        <p:nvPicPr>
          <p:cNvPr id="4" name="Picture 3" descr="WhatsApp Image 2026-04-24 at 9.05.08 PM (2).jpeg"/>
          <p:cNvPicPr>
            <a:picLocks noChangeAspect="1"/>
          </p:cNvPicPr>
          <p:nvPr/>
        </p:nvPicPr>
        <p:blipFill>
          <a:blip r:embed="rId2" cstate="print"/>
          <a:srcRect l="2532" t="12121" r="3797" b="12121"/>
          <a:stretch>
            <a:fillRect/>
          </a:stretch>
        </p:blipFill>
        <p:spPr>
          <a:xfrm>
            <a:off x="5929322" y="1857364"/>
            <a:ext cx="2606058" cy="1760850"/>
          </a:xfrm>
          <a:prstGeom prst="rect">
            <a:avLst/>
          </a:prstGeom>
        </p:spPr>
      </p:pic>
      <p:pic>
        <p:nvPicPr>
          <p:cNvPr id="5" name="Picture 4" descr="WhatsApp Image 2026-04-24 at 9.05.08 PM (1).jpeg"/>
          <p:cNvPicPr>
            <a:picLocks noChangeAspect="1"/>
          </p:cNvPicPr>
          <p:nvPr/>
        </p:nvPicPr>
        <p:blipFill>
          <a:blip r:embed="rId3" cstate="print"/>
          <a:srcRect t="12500" r="3906" b="12500"/>
          <a:stretch>
            <a:fillRect/>
          </a:stretch>
        </p:blipFill>
        <p:spPr>
          <a:xfrm>
            <a:off x="6072198" y="3929066"/>
            <a:ext cx="2327710" cy="1362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sz="4400" b="1" smtClean="0"/>
              <a:t>Risk Classification</a:t>
            </a:r>
            <a:endParaRPr lang="en-US" sz="4400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50000"/>
              </a:lnSpc>
              <a:buClr>
                <a:srgbClr val="FF0000"/>
              </a:buClr>
              <a:buSzPct val="99000"/>
            </a:pPr>
            <a:r>
              <a:rPr lang="en-US" sz="2600" b="1" smtClean="0"/>
              <a:t>HIGH RISK     </a:t>
            </a:r>
          </a:p>
          <a:p>
            <a:pPr>
              <a:lnSpc>
                <a:spcPct val="170000"/>
              </a:lnSpc>
              <a:buClr>
                <a:srgbClr val="FF0000"/>
              </a:buClr>
              <a:buNone/>
            </a:pPr>
            <a:r>
              <a:rPr lang="en-US" sz="2400" smtClean="0"/>
              <a:t>         1.Cross-Site </a:t>
            </a:r>
            <a:r>
              <a:rPr lang="en-US" sz="2400" smtClean="0"/>
              <a:t>Scripting (XSS</a:t>
            </a:r>
            <a:r>
              <a:rPr lang="en-US" sz="2400" smtClean="0"/>
              <a:t>)</a:t>
            </a:r>
          </a:p>
          <a:p>
            <a:pPr>
              <a:lnSpc>
                <a:spcPct val="170000"/>
              </a:lnSpc>
              <a:buClr>
                <a:srgbClr val="FF0000"/>
              </a:buClr>
              <a:buNone/>
            </a:pPr>
            <a:r>
              <a:rPr lang="en-US" sz="2400" smtClean="0"/>
              <a:t>         2.Detected </a:t>
            </a:r>
            <a:r>
              <a:rPr lang="en-US" sz="2400" smtClean="0"/>
              <a:t>SQL Injection vulnerability found </a:t>
            </a:r>
            <a:endParaRPr lang="en-US" sz="2400" smtClean="0"/>
          </a:p>
          <a:p>
            <a:pPr>
              <a:lnSpc>
                <a:spcPct val="170000"/>
              </a:lnSpc>
              <a:buClr>
                <a:srgbClr val="FFFF00"/>
              </a:buClr>
              <a:buSzPct val="99000"/>
            </a:pPr>
            <a:r>
              <a:rPr lang="en-IN" sz="2600" b="1" smtClean="0"/>
              <a:t>MEDIUM RISK</a:t>
            </a:r>
            <a:endParaRPr lang="en-IN" sz="2600" b="1" smtClean="0"/>
          </a:p>
          <a:p>
            <a:pPr>
              <a:lnSpc>
                <a:spcPct val="150000"/>
              </a:lnSpc>
              <a:buClr>
                <a:schemeClr val="accent2">
                  <a:lumMod val="75000"/>
                </a:schemeClr>
              </a:buClr>
              <a:buSzPct val="74000"/>
              <a:buNone/>
            </a:pPr>
            <a:r>
              <a:rPr lang="en-US" sz="2400" smtClean="0"/>
              <a:t>         1.Missing </a:t>
            </a:r>
            <a:r>
              <a:rPr lang="en-US" sz="2400" smtClean="0"/>
              <a:t>Anti-CSRF tokens </a:t>
            </a:r>
            <a:r>
              <a:rPr lang="en-US" sz="2400" smtClean="0"/>
              <a:t>  </a:t>
            </a:r>
            <a:endParaRPr lang="en-US" sz="2400" smtClean="0"/>
          </a:p>
          <a:p>
            <a:pPr>
              <a:lnSpc>
                <a:spcPct val="150000"/>
              </a:lnSpc>
              <a:buClr>
                <a:schemeClr val="accent2">
                  <a:lumMod val="75000"/>
                </a:schemeClr>
              </a:buClr>
              <a:buSzPct val="74000"/>
              <a:buNone/>
            </a:pPr>
            <a:r>
              <a:rPr lang="en-US" sz="2400" smtClean="0"/>
              <a:t>         2.Missing </a:t>
            </a:r>
            <a:r>
              <a:rPr lang="en-US" sz="2400" smtClean="0"/>
              <a:t>security headers (CSP, X-Frame)</a:t>
            </a:r>
          </a:p>
          <a:p>
            <a:pPr>
              <a:lnSpc>
                <a:spcPct val="150000"/>
              </a:lnSpc>
              <a:buClr>
                <a:schemeClr val="accent2">
                  <a:lumMod val="75000"/>
                </a:schemeClr>
              </a:buClr>
              <a:buSzPct val="74000"/>
              <a:buNone/>
            </a:pPr>
            <a:r>
              <a:rPr lang="en-US" sz="2400" smtClean="0"/>
              <a:t>         3.Missing </a:t>
            </a:r>
            <a:r>
              <a:rPr lang="en-US" sz="2400" smtClean="0"/>
              <a:t>Anti-</a:t>
            </a:r>
            <a:r>
              <a:rPr lang="en-US" sz="2400" err="1" smtClean="0"/>
              <a:t>clickjacking</a:t>
            </a:r>
            <a:r>
              <a:rPr lang="en-US" sz="2400" smtClean="0"/>
              <a:t> Header </a:t>
            </a:r>
            <a:endParaRPr lang="en-US" sz="2400" smtClean="0"/>
          </a:p>
          <a:p>
            <a:pPr>
              <a:lnSpc>
                <a:spcPct val="150000"/>
              </a:lnSpc>
              <a:buClr>
                <a:schemeClr val="accent2">
                  <a:lumMod val="75000"/>
                </a:schemeClr>
              </a:buClr>
              <a:buSzPct val="74000"/>
              <a:buNone/>
            </a:pPr>
            <a:r>
              <a:rPr lang="en-US" sz="2400" smtClean="0"/>
              <a:t> </a:t>
            </a:r>
            <a:r>
              <a:rPr lang="en-US" sz="2400" smtClean="0"/>
              <a:t>        4.</a:t>
            </a:r>
            <a:r>
              <a:rPr lang="en-IN" sz="2400" smtClean="0"/>
              <a:t>Sub </a:t>
            </a:r>
            <a:r>
              <a:rPr lang="en-IN" sz="2400" smtClean="0"/>
              <a:t>resource  Integrity Attribute </a:t>
            </a:r>
            <a:r>
              <a:rPr lang="en-IN" sz="2400" smtClean="0"/>
              <a:t>missing</a:t>
            </a:r>
          </a:p>
          <a:p>
            <a:pPr>
              <a:lnSpc>
                <a:spcPct val="150000"/>
              </a:lnSpc>
              <a:buClr>
                <a:srgbClr val="92D050"/>
              </a:buClr>
              <a:buSzPct val="99000"/>
            </a:pPr>
            <a:r>
              <a:rPr lang="en-IN" smtClean="0"/>
              <a:t>LOW RISK</a:t>
            </a:r>
            <a:endParaRPr lang="en-IN" smtClean="0"/>
          </a:p>
          <a:p>
            <a:pPr>
              <a:lnSpc>
                <a:spcPct val="150000"/>
              </a:lnSpc>
              <a:buClr>
                <a:srgbClr val="92D050"/>
              </a:buClr>
              <a:buSzPct val="99000"/>
              <a:buNone/>
            </a:pPr>
            <a:r>
              <a:rPr lang="en-US" sz="2400" smtClean="0"/>
              <a:t>         1.Cookie </a:t>
            </a:r>
            <a:r>
              <a:rPr lang="en-US" sz="2400" smtClean="0"/>
              <a:t>security misconfiguration </a:t>
            </a:r>
            <a:endParaRPr lang="en-US" sz="2400" smtClean="0"/>
          </a:p>
          <a:p>
            <a:pPr>
              <a:lnSpc>
                <a:spcPct val="150000"/>
              </a:lnSpc>
              <a:buClr>
                <a:srgbClr val="92D050"/>
              </a:buClr>
              <a:buSzPct val="99000"/>
              <a:buNone/>
            </a:pPr>
            <a:r>
              <a:rPr lang="en-IN" sz="2400" smtClean="0"/>
              <a:t>         2.Cross </a:t>
            </a:r>
            <a:r>
              <a:rPr lang="en-IN" sz="2400" smtClean="0"/>
              <a:t>Domain JavaScript Source file Inclusion</a:t>
            </a:r>
            <a:endParaRPr lang="en-US" sz="2400" smtClean="0"/>
          </a:p>
          <a:p>
            <a:pPr>
              <a:lnSpc>
                <a:spcPct val="150000"/>
              </a:lnSpc>
              <a:buNone/>
            </a:pPr>
            <a:r>
              <a:rPr lang="en-US" sz="2400" smtClean="0"/>
              <a:t>         3.Information </a:t>
            </a:r>
            <a:r>
              <a:rPr lang="en-US" sz="2400" smtClean="0"/>
              <a:t>disclosure issues</a:t>
            </a:r>
          </a:p>
          <a:p>
            <a:pPr>
              <a:lnSpc>
                <a:spcPct val="150000"/>
              </a:lnSpc>
            </a:pPr>
            <a:endParaRPr lang="en-US" sz="2400" smtClean="0"/>
          </a:p>
          <a:p>
            <a:pPr>
              <a:lnSpc>
                <a:spcPct val="150000"/>
              </a:lnSpc>
              <a:buClr>
                <a:srgbClr val="FFC000"/>
              </a:buClr>
              <a:buSzPct val="74000"/>
              <a:buFont typeface="Wingdings" pitchFamily="2" charset="2"/>
              <a:buChar char="v"/>
            </a:pPr>
            <a:endParaRPr lang="en-IN" sz="2400" smtClean="0"/>
          </a:p>
          <a:p>
            <a:pPr>
              <a:lnSpc>
                <a:spcPct val="150000"/>
              </a:lnSpc>
              <a:buClr>
                <a:srgbClr val="FFC000"/>
              </a:buClr>
              <a:buSzPct val="74000"/>
              <a:buFont typeface="Wingdings" pitchFamily="2" charset="2"/>
              <a:buChar char="v"/>
            </a:pPr>
            <a:endParaRPr lang="en-US" sz="2400" smtClean="0"/>
          </a:p>
          <a:p>
            <a:pPr>
              <a:lnSpc>
                <a:spcPct val="150000"/>
              </a:lnSpc>
              <a:buClr>
                <a:srgbClr val="FFC000"/>
              </a:buClr>
              <a:buSzPct val="74000"/>
              <a:buFont typeface="Wingdings" pitchFamily="2" charset="2"/>
              <a:buChar char="v"/>
            </a:pPr>
            <a:endParaRPr lang="en-US" sz="2400" smtClean="0"/>
          </a:p>
          <a:p>
            <a:pPr>
              <a:lnSpc>
                <a:spcPct val="150000"/>
              </a:lnSpc>
              <a:buClr>
                <a:srgbClr val="FF0000"/>
              </a:buClr>
              <a:buBlip>
                <a:blip r:embed="rId2"/>
              </a:buBlip>
            </a:pPr>
            <a:endParaRPr lang="en-US" sz="2400" smtClean="0"/>
          </a:p>
          <a:p>
            <a:pPr>
              <a:lnSpc>
                <a:spcPct val="150000"/>
              </a:lnSpc>
              <a:buClr>
                <a:srgbClr val="FF0000"/>
              </a:buClr>
              <a:buNone/>
            </a:pPr>
            <a:endParaRPr 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duotone>
              <a:schemeClr val="bg2">
                <a:shade val="3000"/>
                <a:satMod val="110000"/>
              </a:schemeClr>
              <a:schemeClr val="bg2">
                <a:tint val="60000"/>
                <a:satMod val="425000"/>
              </a:schemeClr>
            </a:duotone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28596" y="571480"/>
            <a:ext cx="8229600" cy="1219200"/>
          </a:xfrm>
        </p:spPr>
        <p:txBody>
          <a:bodyPr>
            <a:normAutofit fontScale="90000"/>
          </a:bodyPr>
          <a:lstStyle/>
          <a:p>
            <a:r>
              <a:rPr b="1" smtClean="0"/>
              <a:t>Browser DevTools Usage</a:t>
            </a:r>
            <a:br>
              <a:rPr b="1" smtClean="0"/>
            </a:br>
            <a:endParaRPr lang="en-US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1800" smtClean="0"/>
              <a:t>Inspect </a:t>
            </a:r>
            <a:r>
              <a:rPr lang="en-US" sz="1800" smtClean="0"/>
              <a:t>web page elements using DevTools</a:t>
            </a:r>
            <a:endParaRPr lang="en-US" sz="18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1800" smtClean="0"/>
              <a:t> Analyze HTTP requests </a:t>
            </a:r>
            <a:r>
              <a:rPr lang="en-US" sz="1800" smtClean="0"/>
              <a:t>&amp;</a:t>
            </a:r>
            <a:r>
              <a:rPr lang="en-US" sz="1800" smtClean="0"/>
              <a:t> </a:t>
            </a:r>
            <a:r>
              <a:rPr lang="en-US" sz="1800" smtClean="0"/>
              <a:t>responses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1800" smtClean="0"/>
              <a:t> Identify missing </a:t>
            </a:r>
            <a:r>
              <a:rPr lang="en-US" sz="1800" smtClean="0"/>
              <a:t>security  </a:t>
            </a:r>
            <a:r>
              <a:rPr lang="en-US" sz="1800" smtClean="0"/>
              <a:t>headers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1800" smtClean="0"/>
              <a:t> Monitor cookies </a:t>
            </a:r>
            <a:r>
              <a:rPr lang="en-US" sz="1800" smtClean="0"/>
              <a:t>and </a:t>
            </a:r>
            <a:r>
              <a:rPr lang="en-US" sz="1800" smtClean="0"/>
              <a:t>session data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1800" smtClean="0"/>
              <a:t> Detect </a:t>
            </a:r>
            <a:r>
              <a:rPr lang="en-US" sz="1800" smtClean="0"/>
              <a:t>client-side  </a:t>
            </a:r>
            <a:r>
              <a:rPr lang="en-US" sz="1800" smtClean="0"/>
              <a:t>vulnerabilities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1800" smtClean="0"/>
              <a:t>Debug JavaScript and </a:t>
            </a:r>
            <a:r>
              <a:rPr lang="en-US" sz="1800" smtClean="0"/>
              <a:t>page</a:t>
            </a:r>
            <a:r>
              <a:rPr lang="en-US" sz="1800" smtClean="0"/>
              <a:t> </a:t>
            </a:r>
            <a:r>
              <a:rPr lang="en-US" sz="1800" smtClean="0"/>
              <a:t>behavior</a:t>
            </a:r>
            <a:endParaRPr lang="en-US" sz="1800"/>
          </a:p>
        </p:txBody>
      </p:sp>
      <p:pic>
        <p:nvPicPr>
          <p:cNvPr id="5" name="Picture 4" descr="WhatsApp Image 2026-04-24 at 9.05.07 PM.jpeg"/>
          <p:cNvPicPr>
            <a:picLocks noChangeAspect="1"/>
          </p:cNvPicPr>
          <p:nvPr/>
        </p:nvPicPr>
        <p:blipFill>
          <a:blip r:embed="rId3"/>
          <a:srcRect l="2632" t="6061" b="18181"/>
          <a:stretch>
            <a:fillRect/>
          </a:stretch>
        </p:blipFill>
        <p:spPr>
          <a:xfrm>
            <a:off x="5143504" y="2714620"/>
            <a:ext cx="3500430" cy="228601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smtClean="0"/>
              <a:t>Issues</a:t>
            </a:r>
            <a:endParaRPr lang="en-US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Customer data can be stolen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Unauthorized access </a:t>
            </a:r>
            <a:r>
              <a:rPr lang="en-US" sz="2400" smtClean="0"/>
              <a:t>is possible 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Website trust may be </a:t>
            </a:r>
            <a:r>
              <a:rPr lang="en-US" sz="2400" smtClean="0"/>
              <a:t>affected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Financial loss risk exists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Legal compliance issues may </a:t>
            </a:r>
            <a:r>
              <a:rPr lang="en-US" sz="2400" smtClean="0"/>
              <a:t>arise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 Brand reputation may </a:t>
            </a:r>
            <a:r>
              <a:rPr lang="en-US" sz="2400" smtClean="0"/>
              <a:t>be damaged</a:t>
            </a:r>
            <a:endParaRPr 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b="1" smtClean="0"/>
              <a:t>Remediation Steps</a:t>
            </a:r>
            <a:endParaRPr lang="en-US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Use parameterized queries (</a:t>
            </a:r>
            <a:r>
              <a:rPr lang="en-US" sz="2400" err="1" smtClean="0"/>
              <a:t>SQLi</a:t>
            </a:r>
            <a:r>
              <a:rPr lang="en-US" sz="2400" smtClean="0"/>
              <a:t> fix)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Apply proper </a:t>
            </a:r>
            <a:r>
              <a:rPr lang="en-US" sz="2400" smtClean="0"/>
              <a:t>input validation </a:t>
            </a:r>
            <a:r>
              <a:rPr lang="en-US" sz="2400" smtClean="0"/>
              <a:t>&amp;</a:t>
            </a:r>
            <a:r>
              <a:rPr lang="en-US" sz="2400" smtClean="0"/>
              <a:t> </a:t>
            </a:r>
            <a:r>
              <a:rPr lang="en-US" sz="2400" smtClean="0"/>
              <a:t>sanitization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 Implement CSRF protection tokens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 Add security headers (CSP, X-Frame)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Secure cookies with proper attributes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Perform </a:t>
            </a:r>
            <a:r>
              <a:rPr lang="en-US" sz="2400" smtClean="0"/>
              <a:t>Regular </a:t>
            </a:r>
            <a:r>
              <a:rPr lang="en-US" sz="2400" smtClean="0"/>
              <a:t>patching and updates</a:t>
            </a:r>
            <a:endParaRPr 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-142908" y="714356"/>
            <a:ext cx="8229600" cy="1296974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b="1" smtClean="0"/>
              <a:t>Skills </a:t>
            </a:r>
            <a:r>
              <a:rPr lang="en-US" sz="4000" b="1" smtClean="0"/>
              <a:t>Gained</a:t>
            </a:r>
            <a:endParaRPr lang="en-US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Network </a:t>
            </a:r>
            <a:r>
              <a:rPr lang="en-US" sz="2400" smtClean="0"/>
              <a:t>scanning &amp; enumeration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Vulnerability analysis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Risk classification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Security testing </a:t>
            </a:r>
            <a:r>
              <a:rPr lang="en-US" sz="2400" smtClean="0"/>
              <a:t>methodologies 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Understanding OWASP Top 10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Report writing skills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endParaRPr 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571480"/>
            <a:ext cx="8229600" cy="1143000"/>
          </a:xfrm>
        </p:spPr>
        <p:txBody>
          <a:bodyPr/>
          <a:lstStyle/>
          <a:p>
            <a:pPr algn="ctr"/>
            <a:r>
              <a:rPr b="1" smtClean="0"/>
              <a:t>Conclusion</a:t>
            </a:r>
            <a:endParaRPr lang="en-US" b="1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Vulnerabilities were </a:t>
            </a:r>
            <a:r>
              <a:rPr lang="en-US" sz="2400" smtClean="0"/>
              <a:t>successfully identified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High-risk issues </a:t>
            </a:r>
            <a:r>
              <a:rPr lang="en-US" sz="2400" smtClean="0"/>
              <a:t>require </a:t>
            </a:r>
            <a:r>
              <a:rPr lang="en-US" sz="2400" smtClean="0"/>
              <a:t>immediate </a:t>
            </a:r>
            <a:r>
              <a:rPr lang="en-US" sz="2400" smtClean="0"/>
              <a:t>attention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Overall Security </a:t>
            </a:r>
            <a:r>
              <a:rPr lang="en-US" sz="2400" smtClean="0"/>
              <a:t>posture needs improvement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Proper </a:t>
            </a:r>
            <a:r>
              <a:rPr lang="en-US" sz="2400" smtClean="0"/>
              <a:t>configuration helps reduce </a:t>
            </a:r>
            <a:r>
              <a:rPr lang="en-US" sz="2400" smtClean="0"/>
              <a:t>risk </a:t>
            </a: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Regular  security testing </a:t>
            </a:r>
            <a:r>
              <a:rPr lang="en-US" sz="2400" smtClean="0"/>
              <a:t>is </a:t>
            </a:r>
            <a:r>
              <a:rPr lang="en-US" sz="2400" smtClean="0"/>
              <a:t>essential</a:t>
            </a:r>
            <a:endParaRPr lang="en-US" sz="2400" smtClean="0"/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r>
              <a:rPr lang="en-US" sz="2400" smtClean="0"/>
              <a:t>Continuous </a:t>
            </a:r>
            <a:r>
              <a:rPr lang="en-US" sz="2400" smtClean="0"/>
              <a:t>monitoring </a:t>
            </a:r>
            <a:r>
              <a:rPr lang="en-US" sz="2400" smtClean="0"/>
              <a:t>is important </a:t>
            </a:r>
          </a:p>
          <a:p>
            <a:pPr algn="ctr">
              <a:lnSpc>
                <a:spcPct val="150000"/>
              </a:lnSpc>
              <a:buClrTx/>
              <a:buNone/>
            </a:pPr>
            <a:r>
              <a:rPr lang="en-IN" sz="3200" b="1" smtClean="0">
                <a:solidFill>
                  <a:srgbClr val="FFC000"/>
                </a:solidFill>
              </a:rPr>
              <a:t>Thank </a:t>
            </a:r>
            <a:r>
              <a:rPr lang="en-IN" sz="3200" b="1" smtClean="0">
                <a:solidFill>
                  <a:srgbClr val="FFC000"/>
                </a:solidFill>
              </a:rPr>
              <a:t>You</a:t>
            </a:r>
            <a:endParaRPr lang="en-US" sz="3200" b="1" smtClean="0">
              <a:solidFill>
                <a:srgbClr val="FFC000"/>
              </a:solidFill>
            </a:endParaRPr>
          </a:p>
          <a:p>
            <a:pPr>
              <a:lnSpc>
                <a:spcPct val="150000"/>
              </a:lnSpc>
              <a:buClrTx/>
              <a:buFont typeface="Wingdings" pitchFamily="2" charset="2"/>
              <a:buChar char="Ø"/>
            </a:pPr>
            <a:endParaRPr lang="en-IN" sz="240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319</TotalTime>
  <Words>351</Words>
  <Application>Microsoft Office PowerPoint</Application>
  <PresentationFormat>On-screen Show (4:3)</PresentationFormat>
  <Paragraphs>85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Flow</vt:lpstr>
      <vt:lpstr> Vulnerability Assessment Report</vt:lpstr>
      <vt:lpstr>Overview</vt:lpstr>
      <vt:lpstr> Nmap Usage</vt:lpstr>
      <vt:lpstr>Web Application Problems</vt:lpstr>
      <vt:lpstr>Risk Classification</vt:lpstr>
      <vt:lpstr>Browser DevTools Usage </vt:lpstr>
      <vt:lpstr>Issues</vt:lpstr>
      <vt:lpstr>Remediation Steps</vt:lpstr>
      <vt:lpstr>Skills Gained</vt:lpstr>
      <vt:lpstr>Conclusion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dell</dc:creator>
  <cp:lastModifiedBy>dell</cp:lastModifiedBy>
  <cp:revision>27</cp:revision>
  <dcterms:created xsi:type="dcterms:W3CDTF">2026-04-24T13:49:59Z</dcterms:created>
  <dcterms:modified xsi:type="dcterms:W3CDTF">2026-04-25T05:05:36Z</dcterms:modified>
</cp:coreProperties>
</file>